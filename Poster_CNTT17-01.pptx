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28803600" cy="44623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055" userDrawn="1">
          <p15:clr>
            <a:srgbClr val="A4A3A4"/>
          </p15:clr>
        </p15:guide>
        <p15:guide id="2" pos="90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79" autoAdjust="0"/>
    <p:restoredTop sz="94660"/>
  </p:normalViewPr>
  <p:slideViewPr>
    <p:cSldViewPr snapToGrid="0" showGuides="1">
      <p:cViewPr>
        <p:scale>
          <a:sx n="30" d="100"/>
          <a:sy n="30" d="100"/>
        </p:scale>
        <p:origin x="2968" y="-1312"/>
      </p:cViewPr>
      <p:guideLst>
        <p:guide orient="horz" pos="14055"/>
        <p:guide pos="90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270" y="7302894"/>
            <a:ext cx="24483060" cy="15535428"/>
          </a:xfrm>
        </p:spPr>
        <p:txBody>
          <a:bodyPr anchor="b"/>
          <a:lstStyle>
            <a:lvl1pPr algn="ctr">
              <a:defRPr sz="18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450" y="23437428"/>
            <a:ext cx="21602700" cy="10773568"/>
          </a:xfrm>
        </p:spPr>
        <p:txBody>
          <a:bodyPr/>
          <a:lstStyle>
            <a:lvl1pPr marL="0" indent="0" algn="ctr">
              <a:buNone/>
              <a:defRPr sz="7560"/>
            </a:lvl1pPr>
            <a:lvl2pPr marL="1440180" indent="0" algn="ctr">
              <a:buNone/>
              <a:defRPr sz="6300"/>
            </a:lvl2pPr>
            <a:lvl3pPr marL="2880360" indent="0" algn="ctr">
              <a:buNone/>
              <a:defRPr sz="5670"/>
            </a:lvl3pPr>
            <a:lvl4pPr marL="4320540" indent="0" algn="ctr">
              <a:buNone/>
              <a:defRPr sz="5040"/>
            </a:lvl4pPr>
            <a:lvl5pPr marL="5760720" indent="0" algn="ctr">
              <a:buNone/>
              <a:defRPr sz="5040"/>
            </a:lvl5pPr>
            <a:lvl6pPr marL="7200900" indent="0" algn="ctr">
              <a:buNone/>
              <a:defRPr sz="5040"/>
            </a:lvl6pPr>
            <a:lvl7pPr marL="8641080" indent="0" algn="ctr">
              <a:buNone/>
              <a:defRPr sz="5040"/>
            </a:lvl7pPr>
            <a:lvl8pPr marL="10081260" indent="0" algn="ctr">
              <a:buNone/>
              <a:defRPr sz="5040"/>
            </a:lvl8pPr>
            <a:lvl9pPr marL="11521440" indent="0" algn="ctr">
              <a:buNone/>
              <a:defRPr sz="5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42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7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247" y="11124784"/>
            <a:ext cx="24843105" cy="18561941"/>
          </a:xfrm>
        </p:spPr>
        <p:txBody>
          <a:bodyPr anchor="b"/>
          <a:lstStyle>
            <a:lvl1pPr>
              <a:defRPr sz="18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247" y="29862329"/>
            <a:ext cx="24843105" cy="9761286"/>
          </a:xfrm>
        </p:spPr>
        <p:txBody>
          <a:bodyPr/>
          <a:lstStyle>
            <a:lvl1pPr marL="0" indent="0">
              <a:buNone/>
              <a:defRPr sz="7560">
                <a:solidFill>
                  <a:schemeClr val="tx1"/>
                </a:solidFill>
              </a:defRPr>
            </a:lvl1pPr>
            <a:lvl2pPr marL="144018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2pPr>
            <a:lvl3pPr marL="2880360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3pPr>
            <a:lvl4pPr marL="432054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72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9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108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126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144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49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248" y="11878818"/>
            <a:ext cx="12241530" cy="28312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1823" y="11878818"/>
            <a:ext cx="12241530" cy="28312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0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999" y="2375773"/>
            <a:ext cx="24843105" cy="86250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4002" y="10938845"/>
            <a:ext cx="12185271" cy="5360959"/>
          </a:xfrm>
        </p:spPr>
        <p:txBody>
          <a:bodyPr anchor="b"/>
          <a:lstStyle>
            <a:lvl1pPr marL="0" indent="0">
              <a:buNone/>
              <a:defRPr sz="7560" b="1"/>
            </a:lvl1pPr>
            <a:lvl2pPr marL="1440180" indent="0">
              <a:buNone/>
              <a:defRPr sz="6300" b="1"/>
            </a:lvl2pPr>
            <a:lvl3pPr marL="2880360" indent="0">
              <a:buNone/>
              <a:defRPr sz="5670" b="1"/>
            </a:lvl3pPr>
            <a:lvl4pPr marL="4320540" indent="0">
              <a:buNone/>
              <a:defRPr sz="5040" b="1"/>
            </a:lvl4pPr>
            <a:lvl5pPr marL="5760720" indent="0">
              <a:buNone/>
              <a:defRPr sz="5040" b="1"/>
            </a:lvl5pPr>
            <a:lvl6pPr marL="7200900" indent="0">
              <a:buNone/>
              <a:defRPr sz="5040" b="1"/>
            </a:lvl6pPr>
            <a:lvl7pPr marL="8641080" indent="0">
              <a:buNone/>
              <a:defRPr sz="5040" b="1"/>
            </a:lvl7pPr>
            <a:lvl8pPr marL="10081260" indent="0">
              <a:buNone/>
              <a:defRPr sz="5040" b="1"/>
            </a:lvl8pPr>
            <a:lvl9pPr marL="11521440" indent="0">
              <a:buNone/>
              <a:defRPr sz="5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4002" y="16299804"/>
            <a:ext cx="12185271" cy="23974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1824" y="10938845"/>
            <a:ext cx="12245282" cy="5360959"/>
          </a:xfrm>
        </p:spPr>
        <p:txBody>
          <a:bodyPr anchor="b"/>
          <a:lstStyle>
            <a:lvl1pPr marL="0" indent="0">
              <a:buNone/>
              <a:defRPr sz="7560" b="1"/>
            </a:lvl1pPr>
            <a:lvl2pPr marL="1440180" indent="0">
              <a:buNone/>
              <a:defRPr sz="6300" b="1"/>
            </a:lvl2pPr>
            <a:lvl3pPr marL="2880360" indent="0">
              <a:buNone/>
              <a:defRPr sz="5670" b="1"/>
            </a:lvl3pPr>
            <a:lvl4pPr marL="4320540" indent="0">
              <a:buNone/>
              <a:defRPr sz="5040" b="1"/>
            </a:lvl4pPr>
            <a:lvl5pPr marL="5760720" indent="0">
              <a:buNone/>
              <a:defRPr sz="5040" b="1"/>
            </a:lvl5pPr>
            <a:lvl6pPr marL="7200900" indent="0">
              <a:buNone/>
              <a:defRPr sz="5040" b="1"/>
            </a:lvl6pPr>
            <a:lvl7pPr marL="8641080" indent="0">
              <a:buNone/>
              <a:defRPr sz="5040" b="1"/>
            </a:lvl7pPr>
            <a:lvl8pPr marL="10081260" indent="0">
              <a:buNone/>
              <a:defRPr sz="5040" b="1"/>
            </a:lvl8pPr>
            <a:lvl9pPr marL="11521440" indent="0">
              <a:buNone/>
              <a:defRPr sz="5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1824" y="16299804"/>
            <a:ext cx="12245282" cy="23974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7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88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02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999" y="2974869"/>
            <a:ext cx="9289911" cy="10412042"/>
          </a:xfrm>
        </p:spPr>
        <p:txBody>
          <a:bodyPr anchor="b"/>
          <a:lstStyle>
            <a:lvl1pPr>
              <a:defRPr sz="10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5281" y="6424901"/>
            <a:ext cx="14581823" cy="31711279"/>
          </a:xfrm>
        </p:spPr>
        <p:txBody>
          <a:bodyPr/>
          <a:lstStyle>
            <a:lvl1pPr>
              <a:defRPr sz="10080"/>
            </a:lvl1pPr>
            <a:lvl2pPr>
              <a:defRPr sz="8820"/>
            </a:lvl2pPr>
            <a:lvl3pPr>
              <a:defRPr sz="756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999" y="13386912"/>
            <a:ext cx="9289911" cy="24800909"/>
          </a:xfrm>
        </p:spPr>
        <p:txBody>
          <a:bodyPr/>
          <a:lstStyle>
            <a:lvl1pPr marL="0" indent="0">
              <a:buNone/>
              <a:defRPr sz="5040"/>
            </a:lvl1pPr>
            <a:lvl2pPr marL="1440180" indent="0">
              <a:buNone/>
              <a:defRPr sz="4410"/>
            </a:lvl2pPr>
            <a:lvl3pPr marL="2880360" indent="0">
              <a:buNone/>
              <a:defRPr sz="3780"/>
            </a:lvl3pPr>
            <a:lvl4pPr marL="4320540" indent="0">
              <a:buNone/>
              <a:defRPr sz="3150"/>
            </a:lvl4pPr>
            <a:lvl5pPr marL="5760720" indent="0">
              <a:buNone/>
              <a:defRPr sz="3150"/>
            </a:lvl5pPr>
            <a:lvl6pPr marL="7200900" indent="0">
              <a:buNone/>
              <a:defRPr sz="3150"/>
            </a:lvl6pPr>
            <a:lvl7pPr marL="8641080" indent="0">
              <a:buNone/>
              <a:defRPr sz="3150"/>
            </a:lvl7pPr>
            <a:lvl8pPr marL="10081260" indent="0">
              <a:buNone/>
              <a:defRPr sz="3150"/>
            </a:lvl8pPr>
            <a:lvl9pPr marL="11521440" indent="0">
              <a:buNone/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53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999" y="2974869"/>
            <a:ext cx="9289911" cy="10412042"/>
          </a:xfrm>
        </p:spPr>
        <p:txBody>
          <a:bodyPr anchor="b"/>
          <a:lstStyle>
            <a:lvl1pPr>
              <a:defRPr sz="10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5281" y="6424901"/>
            <a:ext cx="14581823" cy="31711279"/>
          </a:xfrm>
        </p:spPr>
        <p:txBody>
          <a:bodyPr anchor="t"/>
          <a:lstStyle>
            <a:lvl1pPr marL="0" indent="0">
              <a:buNone/>
              <a:defRPr sz="10080"/>
            </a:lvl1pPr>
            <a:lvl2pPr marL="1440180" indent="0">
              <a:buNone/>
              <a:defRPr sz="8820"/>
            </a:lvl2pPr>
            <a:lvl3pPr marL="2880360" indent="0">
              <a:buNone/>
              <a:defRPr sz="7560"/>
            </a:lvl3pPr>
            <a:lvl4pPr marL="4320540" indent="0">
              <a:buNone/>
              <a:defRPr sz="6300"/>
            </a:lvl4pPr>
            <a:lvl5pPr marL="5760720" indent="0">
              <a:buNone/>
              <a:defRPr sz="6300"/>
            </a:lvl5pPr>
            <a:lvl6pPr marL="7200900" indent="0">
              <a:buNone/>
              <a:defRPr sz="6300"/>
            </a:lvl6pPr>
            <a:lvl7pPr marL="8641080" indent="0">
              <a:buNone/>
              <a:defRPr sz="6300"/>
            </a:lvl7pPr>
            <a:lvl8pPr marL="10081260" indent="0">
              <a:buNone/>
              <a:defRPr sz="6300"/>
            </a:lvl8pPr>
            <a:lvl9pPr marL="11521440" indent="0">
              <a:buNone/>
              <a:defRPr sz="6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999" y="13386912"/>
            <a:ext cx="9289911" cy="24800909"/>
          </a:xfrm>
        </p:spPr>
        <p:txBody>
          <a:bodyPr/>
          <a:lstStyle>
            <a:lvl1pPr marL="0" indent="0">
              <a:buNone/>
              <a:defRPr sz="5040"/>
            </a:lvl1pPr>
            <a:lvl2pPr marL="1440180" indent="0">
              <a:buNone/>
              <a:defRPr sz="4410"/>
            </a:lvl2pPr>
            <a:lvl3pPr marL="2880360" indent="0">
              <a:buNone/>
              <a:defRPr sz="3780"/>
            </a:lvl3pPr>
            <a:lvl4pPr marL="4320540" indent="0">
              <a:buNone/>
              <a:defRPr sz="3150"/>
            </a:lvl4pPr>
            <a:lvl5pPr marL="5760720" indent="0">
              <a:buNone/>
              <a:defRPr sz="3150"/>
            </a:lvl5pPr>
            <a:lvl6pPr marL="7200900" indent="0">
              <a:buNone/>
              <a:defRPr sz="3150"/>
            </a:lvl6pPr>
            <a:lvl7pPr marL="8641080" indent="0">
              <a:buNone/>
              <a:defRPr sz="3150"/>
            </a:lvl7pPr>
            <a:lvl8pPr marL="10081260" indent="0">
              <a:buNone/>
              <a:defRPr sz="3150"/>
            </a:lvl8pPr>
            <a:lvl9pPr marL="11521440" indent="0">
              <a:buNone/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60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29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2578" y="2375764"/>
            <a:ext cx="6210776" cy="37815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249" y="2375764"/>
            <a:ext cx="18272284" cy="37815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6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248" y="2375773"/>
            <a:ext cx="24843105" cy="8625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248" y="11878818"/>
            <a:ext cx="24843105" cy="28312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248" y="41358955"/>
            <a:ext cx="6480810" cy="2375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1193" y="41358955"/>
            <a:ext cx="9721215" cy="2375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2543" y="41358955"/>
            <a:ext cx="6480810" cy="2375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48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880360" rtl="0" eaLnBrk="1" latinLnBrk="0" hangingPunct="1">
        <a:lnSpc>
          <a:spcPct val="90000"/>
        </a:lnSpc>
        <a:spcBef>
          <a:spcPct val="0"/>
        </a:spcBef>
        <a:buNone/>
        <a:defRPr sz="13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90" indent="-720090" algn="l" defTabSz="2880360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2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3pPr>
      <a:lvl4pPr marL="504063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4pPr>
      <a:lvl5pPr marL="648081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6pPr>
      <a:lvl7pPr marL="936117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8pPr>
      <a:lvl9pPr marL="1224153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2pPr>
      <a:lvl3pPr marL="288036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6pPr>
      <a:lvl7pPr marL="864108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7pPr>
      <a:lvl8pPr marL="1008126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8pPr>
      <a:lvl9pPr marL="1152144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D9E4F7B-BDBB-AF4A-B4AD-63280788DEC9}"/>
              </a:ext>
            </a:extLst>
          </p:cNvPr>
          <p:cNvSpPr txBox="1">
            <a:spLocks/>
          </p:cNvSpPr>
          <p:nvPr/>
        </p:nvSpPr>
        <p:spPr>
          <a:xfrm>
            <a:off x="1439865" y="6818349"/>
            <a:ext cx="25923875" cy="19685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28803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dirty="0"/>
              <a:t>XE TỰ HÀNH VỚI HAI CHẾ ĐỘ TỰ LÁI VÀ ĐIỀU KHIỂN</a:t>
            </a:r>
            <a:endParaRPr lang="en-US" sz="8000" dirty="0"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B71301-74E9-3D33-787D-882C46CB1337}"/>
              </a:ext>
            </a:extLst>
          </p:cNvPr>
          <p:cNvSpPr/>
          <p:nvPr/>
        </p:nvSpPr>
        <p:spPr>
          <a:xfrm>
            <a:off x="4773706" y="8900202"/>
            <a:ext cx="19256188" cy="5930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599" b="1" dirty="0"/>
              <a:t>Nguyễn Đức Doanh, Nguyễn Phúc </a:t>
            </a:r>
            <a:r>
              <a:rPr lang="en-US" sz="3599" b="1" dirty="0" err="1"/>
              <a:t>Bằng,Đinh</a:t>
            </a:r>
            <a:r>
              <a:rPr lang="en-US" sz="3599" b="1" dirty="0"/>
              <a:t> Văn Thường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866BCA-6519-4A04-49D6-16F03CF06786}"/>
              </a:ext>
            </a:extLst>
          </p:cNvPr>
          <p:cNvSpPr/>
          <p:nvPr/>
        </p:nvSpPr>
        <p:spPr>
          <a:xfrm>
            <a:off x="4831460" y="9137681"/>
            <a:ext cx="19256188" cy="19685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199" i="1" dirty="0" err="1"/>
              <a:t>Dainam</a:t>
            </a:r>
            <a:r>
              <a:rPr lang="en-US" sz="3199" i="1" dirty="0"/>
              <a:t> University, Hanoi, Vietnam</a:t>
            </a:r>
          </a:p>
        </p:txBody>
      </p:sp>
      <p:sp>
        <p:nvSpPr>
          <p:cNvPr id="16" name="Text Box 189">
            <a:extLst>
              <a:ext uri="{FF2B5EF4-FFF2-40B4-BE49-F238E27FC236}">
                <a16:creationId xmlns:a16="http://schemas.microsoft.com/office/drawing/2014/main" id="{51079C32-2598-22AE-8FEA-44580D8E2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761" y="12668070"/>
            <a:ext cx="9074187" cy="3042879"/>
          </a:xfrm>
          <a:prstGeom prst="rect">
            <a:avLst/>
          </a:prstGeom>
          <a:solidFill>
            <a:schemeClr val="bg1"/>
          </a:solidFill>
          <a:ln w="57150">
            <a:solidFill>
              <a:srgbClr val="233F99"/>
            </a:solidFill>
          </a:ln>
          <a:effectLst/>
        </p:spPr>
        <p:txBody>
          <a:bodyPr wrap="square" lIns="173940" tIns="173940" rIns="173940" bIns="17394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3200" dirty="0"/>
              <a:t>Xe </a:t>
            </a:r>
            <a:r>
              <a:rPr lang="en-US" sz="3200" dirty="0" err="1"/>
              <a:t>tự</a:t>
            </a:r>
            <a:r>
              <a:rPr lang="en-US" sz="3200" dirty="0"/>
              <a:t> </a:t>
            </a:r>
            <a:r>
              <a:rPr lang="en-US" sz="3200" dirty="0" err="1"/>
              <a:t>hành</a:t>
            </a:r>
            <a:r>
              <a:rPr lang="en-US" sz="3200" dirty="0"/>
              <a:t> </a:t>
            </a:r>
            <a:r>
              <a:rPr lang="en-US" sz="3200" dirty="0" err="1"/>
              <a:t>tích</a:t>
            </a:r>
            <a:r>
              <a:rPr lang="en-US" sz="3200" dirty="0"/>
              <a:t> </a:t>
            </a:r>
            <a:r>
              <a:rPr lang="en-US" sz="3200" dirty="0" err="1"/>
              <a:t>hợp</a:t>
            </a:r>
            <a:r>
              <a:rPr lang="en-US" sz="3200" dirty="0"/>
              <a:t> 2 </a:t>
            </a:r>
            <a:r>
              <a:rPr lang="en-US" sz="3200" dirty="0" err="1"/>
              <a:t>chế</a:t>
            </a:r>
            <a:r>
              <a:rPr lang="en-US" sz="3200" dirty="0"/>
              <a:t> </a:t>
            </a:r>
            <a:r>
              <a:rPr lang="en-US" sz="3200" dirty="0" err="1"/>
              <a:t>độ</a:t>
            </a:r>
            <a:r>
              <a:rPr lang="en-US" sz="3200" dirty="0"/>
              <a:t>: </a:t>
            </a:r>
          </a:p>
          <a:p>
            <a:r>
              <a:rPr lang="en-US" sz="3200" dirty="0"/>
              <a:t>• TỰ LÁI: </a:t>
            </a:r>
            <a:r>
              <a:rPr lang="en-US" sz="3200" dirty="0" err="1"/>
              <a:t>Tránh</a:t>
            </a:r>
            <a:r>
              <a:rPr lang="en-US" sz="3200" dirty="0"/>
              <a:t> </a:t>
            </a:r>
            <a:r>
              <a:rPr lang="en-US" sz="3200" dirty="0" err="1"/>
              <a:t>vật</a:t>
            </a:r>
            <a:r>
              <a:rPr lang="en-US" sz="3200" dirty="0"/>
              <a:t> </a:t>
            </a:r>
            <a:r>
              <a:rPr lang="en-US" sz="3200" dirty="0" err="1"/>
              <a:t>cản</a:t>
            </a:r>
            <a:r>
              <a:rPr lang="en-US" sz="3200" dirty="0"/>
              <a:t> </a:t>
            </a:r>
            <a:r>
              <a:rPr lang="en-US" sz="3200" dirty="0" err="1"/>
              <a:t>bằng</a:t>
            </a:r>
            <a:r>
              <a:rPr lang="en-US" sz="3200" dirty="0"/>
              <a:t> </a:t>
            </a:r>
            <a:r>
              <a:rPr lang="en-US" sz="3200" dirty="0" err="1"/>
              <a:t>cảm</a:t>
            </a:r>
            <a:r>
              <a:rPr lang="en-US" sz="3200" dirty="0"/>
              <a:t> </a:t>
            </a:r>
            <a:r>
              <a:rPr lang="en-US" sz="3200" dirty="0" err="1"/>
              <a:t>biến</a:t>
            </a:r>
            <a:r>
              <a:rPr lang="en-US" sz="3200" dirty="0"/>
              <a:t> </a:t>
            </a:r>
            <a:r>
              <a:rPr lang="en-US" sz="3200" dirty="0" err="1"/>
              <a:t>siêu</a:t>
            </a:r>
            <a:r>
              <a:rPr lang="en-US" sz="3200" dirty="0"/>
              <a:t> </a:t>
            </a:r>
            <a:r>
              <a:rPr lang="en-US" sz="3200" dirty="0" err="1"/>
              <a:t>âm</a:t>
            </a:r>
            <a:r>
              <a:rPr lang="en-US" sz="3200" dirty="0"/>
              <a:t> • ĐIỀU KHIỂN: Qua Bluetooth </a:t>
            </a:r>
            <a:r>
              <a:rPr lang="en-US" sz="3200" dirty="0" err="1"/>
              <a:t>từ</a:t>
            </a:r>
            <a:r>
              <a:rPr lang="en-US" sz="3200" dirty="0"/>
              <a:t> </a:t>
            </a:r>
            <a:r>
              <a:rPr lang="en-US" sz="3200" dirty="0" err="1"/>
              <a:t>điện</a:t>
            </a:r>
            <a:r>
              <a:rPr lang="en-US" sz="3200" dirty="0"/>
              <a:t> </a:t>
            </a:r>
            <a:r>
              <a:rPr lang="en-US" sz="3200" dirty="0" err="1"/>
              <a:t>thoại</a:t>
            </a:r>
            <a:endParaRPr lang="en-US" sz="3200" dirty="0"/>
          </a:p>
          <a:p>
            <a:r>
              <a:rPr lang="en-US" sz="3200" dirty="0" err="1"/>
              <a:t>Ứng</a:t>
            </a:r>
            <a:r>
              <a:rPr lang="en-US" sz="3200" dirty="0"/>
              <a:t> </a:t>
            </a:r>
            <a:r>
              <a:rPr lang="en-US" sz="3200" dirty="0" err="1"/>
              <a:t>dụng</a:t>
            </a:r>
            <a:r>
              <a:rPr lang="en-US" sz="3200" dirty="0"/>
              <a:t>: </a:t>
            </a:r>
            <a:r>
              <a:rPr lang="en-US" sz="3200" dirty="0" err="1"/>
              <a:t>Giáo</a:t>
            </a:r>
            <a:r>
              <a:rPr lang="en-US" sz="3200" dirty="0"/>
              <a:t> </a:t>
            </a:r>
            <a:r>
              <a:rPr lang="en-US" sz="3200" dirty="0" err="1"/>
              <a:t>dục</a:t>
            </a:r>
            <a:r>
              <a:rPr lang="en-US" sz="3200" dirty="0"/>
              <a:t>, logistics, </a:t>
            </a:r>
            <a:r>
              <a:rPr lang="en-US" sz="3200" dirty="0" err="1"/>
              <a:t>giám</a:t>
            </a:r>
            <a:r>
              <a:rPr lang="en-US" sz="3200" dirty="0"/>
              <a:t> </a:t>
            </a:r>
            <a:r>
              <a:rPr lang="en-US" sz="3200" dirty="0" err="1"/>
              <a:t>sát</a:t>
            </a:r>
            <a:endParaRPr lang="en-US" sz="3200" dirty="0">
              <a:effectLst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4BE971-7A47-3451-3EE2-CA13BA5489F4}"/>
              </a:ext>
            </a:extLst>
          </p:cNvPr>
          <p:cNvSpPr/>
          <p:nvPr/>
        </p:nvSpPr>
        <p:spPr>
          <a:xfrm>
            <a:off x="510761" y="11659755"/>
            <a:ext cx="9074187" cy="964611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399" b="1" dirty="0" err="1">
                <a:solidFill>
                  <a:schemeClr val="bg1"/>
                </a:solidFill>
              </a:rPr>
              <a:t>Giới</a:t>
            </a:r>
            <a:r>
              <a:rPr lang="en-US" sz="5399" b="1" dirty="0">
                <a:solidFill>
                  <a:schemeClr val="bg1"/>
                </a:solidFill>
              </a:rPr>
              <a:t> </a:t>
            </a:r>
            <a:r>
              <a:rPr lang="en-US" sz="5399" b="1" dirty="0" err="1">
                <a:solidFill>
                  <a:schemeClr val="bg1"/>
                </a:solidFill>
              </a:rPr>
              <a:t>thiệu</a:t>
            </a:r>
            <a:endParaRPr lang="en-US" sz="5399" b="1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40A9FB-E213-CCEB-F04F-83DD2303D1D8}"/>
              </a:ext>
            </a:extLst>
          </p:cNvPr>
          <p:cNvSpPr/>
          <p:nvPr/>
        </p:nvSpPr>
        <p:spPr>
          <a:xfrm>
            <a:off x="18873569" y="30008041"/>
            <a:ext cx="8490171" cy="1128057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399" b="1" dirty="0" err="1">
                <a:solidFill>
                  <a:schemeClr val="bg1"/>
                </a:solidFill>
              </a:rPr>
              <a:t>Hướng</a:t>
            </a:r>
            <a:r>
              <a:rPr lang="en-US" sz="5399" b="1" dirty="0">
                <a:solidFill>
                  <a:schemeClr val="bg1"/>
                </a:solidFill>
              </a:rPr>
              <a:t> </a:t>
            </a:r>
            <a:r>
              <a:rPr lang="en-US" sz="5399" b="1" dirty="0" err="1">
                <a:solidFill>
                  <a:schemeClr val="bg1"/>
                </a:solidFill>
              </a:rPr>
              <a:t>phát</a:t>
            </a:r>
            <a:r>
              <a:rPr lang="en-US" sz="5399" b="1" dirty="0">
                <a:solidFill>
                  <a:schemeClr val="bg1"/>
                </a:solidFill>
              </a:rPr>
              <a:t> </a:t>
            </a:r>
            <a:r>
              <a:rPr lang="en-US" sz="5399" b="1" dirty="0" err="1">
                <a:solidFill>
                  <a:schemeClr val="bg1"/>
                </a:solidFill>
              </a:rPr>
              <a:t>triển</a:t>
            </a:r>
            <a:endParaRPr lang="en-US" sz="5399" b="1" dirty="0">
              <a:solidFill>
                <a:schemeClr val="bg1"/>
              </a:solidFill>
            </a:endParaRPr>
          </a:p>
        </p:txBody>
      </p:sp>
      <p:sp>
        <p:nvSpPr>
          <p:cNvPr id="20" name="Text Box 191">
            <a:extLst>
              <a:ext uri="{FF2B5EF4-FFF2-40B4-BE49-F238E27FC236}">
                <a16:creationId xmlns:a16="http://schemas.microsoft.com/office/drawing/2014/main" id="{D9710905-8CED-BDEE-1C02-E33551D97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73569" y="31175915"/>
            <a:ext cx="8490171" cy="7689643"/>
          </a:xfrm>
          <a:prstGeom prst="rect">
            <a:avLst/>
          </a:prstGeom>
          <a:solidFill>
            <a:schemeClr val="bg1"/>
          </a:solidFill>
          <a:ln w="57150">
            <a:solidFill>
              <a:srgbClr val="233F99"/>
            </a:solidFill>
          </a:ln>
          <a:effectLst/>
        </p:spPr>
        <p:txBody>
          <a:bodyPr lIns="173940" tIns="173940" rIns="173940" bIns="17394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r>
              <a:rPr lang="en-US" sz="3200" dirty="0"/>
              <a:t>• </a:t>
            </a:r>
            <a:r>
              <a:rPr lang="en-US" sz="5000" dirty="0" err="1"/>
              <a:t>Tích</a:t>
            </a:r>
            <a:r>
              <a:rPr lang="en-US" sz="5000" dirty="0"/>
              <a:t> </a:t>
            </a:r>
            <a:r>
              <a:rPr lang="en-US" sz="5000" dirty="0" err="1"/>
              <a:t>hợp</a:t>
            </a:r>
            <a:r>
              <a:rPr lang="en-US" sz="5000" dirty="0"/>
              <a:t> Wi-Fi + Cloud (MQTT) </a:t>
            </a:r>
          </a:p>
          <a:p>
            <a:pPr eaLnBrk="1" hangingPunct="1"/>
            <a:r>
              <a:rPr lang="en-US" sz="5000" dirty="0"/>
              <a:t>• </a:t>
            </a:r>
            <a:r>
              <a:rPr lang="en-US" sz="5000" dirty="0" err="1"/>
              <a:t>Thêm</a:t>
            </a:r>
            <a:r>
              <a:rPr lang="en-US" sz="5000" dirty="0"/>
              <a:t> camera + AI </a:t>
            </a:r>
            <a:r>
              <a:rPr lang="en-US" sz="5000" dirty="0" err="1"/>
              <a:t>nhận</a:t>
            </a:r>
            <a:r>
              <a:rPr lang="en-US" sz="5000" dirty="0"/>
              <a:t> </a:t>
            </a:r>
            <a:r>
              <a:rPr lang="en-US" sz="5000" dirty="0" err="1"/>
              <a:t>diện</a:t>
            </a:r>
            <a:r>
              <a:rPr lang="en-US" sz="5000" dirty="0"/>
              <a:t> </a:t>
            </a:r>
            <a:r>
              <a:rPr lang="en-US" sz="5000" dirty="0" err="1"/>
              <a:t>vật</a:t>
            </a:r>
            <a:r>
              <a:rPr lang="en-US" sz="5000" dirty="0"/>
              <a:t> </a:t>
            </a:r>
            <a:r>
              <a:rPr lang="en-US" sz="5000" dirty="0" err="1"/>
              <a:t>cản</a:t>
            </a:r>
            <a:r>
              <a:rPr lang="en-US" sz="5000" dirty="0"/>
              <a:t> </a:t>
            </a:r>
          </a:p>
          <a:p>
            <a:pPr eaLnBrk="1" hangingPunct="1"/>
            <a:r>
              <a:rPr lang="en-US" sz="5000" dirty="0"/>
              <a:t>• OTA Update, </a:t>
            </a:r>
            <a:r>
              <a:rPr lang="en-US" sz="5000" dirty="0" err="1"/>
              <a:t>giám</a:t>
            </a:r>
            <a:r>
              <a:rPr lang="en-US" sz="5000" dirty="0"/>
              <a:t> </a:t>
            </a:r>
            <a:r>
              <a:rPr lang="en-US" sz="5000" dirty="0" err="1"/>
              <a:t>sát</a:t>
            </a:r>
            <a:r>
              <a:rPr lang="en-US" sz="5000" dirty="0"/>
              <a:t> </a:t>
            </a:r>
            <a:r>
              <a:rPr lang="en-US" sz="5000" dirty="0" err="1"/>
              <a:t>từ</a:t>
            </a:r>
            <a:r>
              <a:rPr lang="en-US" sz="5000" dirty="0"/>
              <a:t> xa</a:t>
            </a: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algn="ctr" eaLnBrk="1" hangingPunct="1"/>
            <a:endParaRPr lang="en-US" sz="3000" b="1" dirty="0">
              <a:latin typeface="Calibri" pitchFamily="34" charset="0"/>
            </a:endParaRPr>
          </a:p>
          <a:p>
            <a:pPr algn="ctr" eaLnBrk="1" hangingPunct="1"/>
            <a:endParaRPr lang="en-US" sz="3000" b="1" dirty="0">
              <a:latin typeface="Calibri" pitchFamily="34" charset="0"/>
            </a:endParaRPr>
          </a:p>
          <a:p>
            <a:pPr algn="ctr" eaLnBrk="1" hangingPunct="1"/>
            <a:endParaRPr lang="en-US" sz="3000" b="1" dirty="0">
              <a:latin typeface="Calibri" pitchFamily="34" charset="0"/>
            </a:endParaRPr>
          </a:p>
          <a:p>
            <a:pPr algn="ctr" eaLnBrk="1" hangingPunct="1"/>
            <a:endParaRPr lang="en-US" sz="3000" b="1" dirty="0">
              <a:latin typeface="Calibri" pitchFamily="34" charset="0"/>
            </a:endParaRPr>
          </a:p>
          <a:p>
            <a:pPr algn="ctr" eaLnBrk="1" hangingPunct="1"/>
            <a:endParaRPr lang="en-US" sz="3000" b="1" dirty="0">
              <a:latin typeface="Calibri" pitchFamily="34" charset="0"/>
            </a:endParaRPr>
          </a:p>
          <a:p>
            <a:pPr algn="ctr" eaLnBrk="1" hangingPunct="1"/>
            <a:endParaRPr lang="en-US" sz="3000" b="1" dirty="0">
              <a:latin typeface="Calibr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E0184E-C494-F5D6-5DDB-4CEE6BD43A53}"/>
              </a:ext>
            </a:extLst>
          </p:cNvPr>
          <p:cNvSpPr/>
          <p:nvPr/>
        </p:nvSpPr>
        <p:spPr>
          <a:xfrm>
            <a:off x="10045022" y="11665207"/>
            <a:ext cx="18335070" cy="1002860"/>
          </a:xfrm>
          <a:prstGeom prst="rect">
            <a:avLst/>
          </a:prstGeom>
          <a:solidFill>
            <a:srgbClr val="233F99"/>
          </a:solidFill>
          <a:ln w="57150">
            <a:solidFill>
              <a:srgbClr val="233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vi-VN" sz="5399" b="1" dirty="0">
                <a:solidFill>
                  <a:schemeClr val="bg1"/>
                </a:solidFill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Thuật toán sử dụng</a:t>
            </a:r>
            <a:endParaRPr lang="en-US" sz="5399" b="1" dirty="0">
              <a:solidFill>
                <a:schemeClr val="bg1"/>
              </a:solidFill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12DCEE-1ECB-4347-1188-2F00770BC416}"/>
              </a:ext>
            </a:extLst>
          </p:cNvPr>
          <p:cNvSpPr/>
          <p:nvPr/>
        </p:nvSpPr>
        <p:spPr>
          <a:xfrm>
            <a:off x="481264" y="15710949"/>
            <a:ext cx="9074187" cy="1066389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399" b="1" dirty="0">
                <a:solidFill>
                  <a:schemeClr val="bg1"/>
                </a:solidFill>
              </a:rPr>
              <a:t>Các </a:t>
            </a:r>
            <a:r>
              <a:rPr lang="en-US" sz="5399" b="1" dirty="0" err="1">
                <a:solidFill>
                  <a:schemeClr val="bg1"/>
                </a:solidFill>
              </a:rPr>
              <a:t>thiết</a:t>
            </a:r>
            <a:r>
              <a:rPr lang="en-US" sz="5399" b="1" dirty="0">
                <a:solidFill>
                  <a:schemeClr val="bg1"/>
                </a:solidFill>
              </a:rPr>
              <a:t> </a:t>
            </a:r>
            <a:r>
              <a:rPr lang="en-US" sz="5399" b="1" dirty="0" err="1">
                <a:solidFill>
                  <a:schemeClr val="bg1"/>
                </a:solidFill>
              </a:rPr>
              <a:t>bị</a:t>
            </a:r>
            <a:r>
              <a:rPr lang="en-US" sz="5399" b="1" dirty="0">
                <a:solidFill>
                  <a:schemeClr val="bg1"/>
                </a:solidFill>
              </a:rPr>
              <a:t> </a:t>
            </a:r>
            <a:r>
              <a:rPr lang="en-US" sz="5399" b="1" dirty="0" err="1">
                <a:solidFill>
                  <a:schemeClr val="bg1"/>
                </a:solidFill>
              </a:rPr>
              <a:t>sử</a:t>
            </a:r>
            <a:r>
              <a:rPr lang="en-US" sz="5399" b="1" dirty="0">
                <a:solidFill>
                  <a:schemeClr val="bg1"/>
                </a:solidFill>
              </a:rPr>
              <a:t> </a:t>
            </a:r>
            <a:r>
              <a:rPr lang="en-US" sz="5399" b="1" dirty="0" err="1">
                <a:solidFill>
                  <a:schemeClr val="bg1"/>
                </a:solidFill>
              </a:rPr>
              <a:t>dụng</a:t>
            </a:r>
            <a:endParaRPr lang="en-US" sz="5399" b="1" dirty="0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6204EBA-DBB7-DBBB-862B-3E18DF525598}"/>
              </a:ext>
            </a:extLst>
          </p:cNvPr>
          <p:cNvSpPr/>
          <p:nvPr/>
        </p:nvSpPr>
        <p:spPr>
          <a:xfrm>
            <a:off x="657957" y="39496637"/>
            <a:ext cx="27821867" cy="959132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399" b="1" dirty="0" err="1">
                <a:solidFill>
                  <a:schemeClr val="bg1"/>
                </a:solidFill>
              </a:rPr>
              <a:t>Kết</a:t>
            </a:r>
            <a:r>
              <a:rPr lang="en-US" sz="5399" b="1" dirty="0">
                <a:solidFill>
                  <a:schemeClr val="bg1"/>
                </a:solidFill>
              </a:rPr>
              <a:t> Luận</a:t>
            </a:r>
          </a:p>
        </p:txBody>
      </p:sp>
      <p:sp>
        <p:nvSpPr>
          <p:cNvPr id="50" name="Text Box 194">
            <a:extLst>
              <a:ext uri="{FF2B5EF4-FFF2-40B4-BE49-F238E27FC236}">
                <a16:creationId xmlns:a16="http://schemas.microsoft.com/office/drawing/2014/main" id="{1C22CDFC-ECFD-5BE7-8733-C37CEFFE2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57" y="40489347"/>
            <a:ext cx="27841077" cy="2537599"/>
          </a:xfrm>
          <a:prstGeom prst="rect">
            <a:avLst/>
          </a:prstGeom>
          <a:solidFill>
            <a:schemeClr val="bg1"/>
          </a:solidFill>
          <a:ln w="57150">
            <a:solidFill>
              <a:srgbClr val="233F99"/>
            </a:solidFill>
          </a:ln>
          <a:effectLst/>
        </p:spPr>
        <p:txBody>
          <a:bodyPr lIns="173940" tIns="173940" rIns="173940" bIns="17394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4500" dirty="0">
                <a:latin typeface="Calibri" pitchFamily="34" charset="0"/>
              </a:rPr>
              <a:t>Hoàn </a:t>
            </a:r>
            <a:r>
              <a:rPr lang="en-US" sz="4500" dirty="0" err="1">
                <a:latin typeface="Calibri" pitchFamily="34" charset="0"/>
              </a:rPr>
              <a:t>thành</a:t>
            </a:r>
            <a:r>
              <a:rPr lang="en-US" sz="4500" dirty="0">
                <a:latin typeface="Calibri" pitchFamily="34" charset="0"/>
              </a:rPr>
              <a:t> </a:t>
            </a:r>
            <a:r>
              <a:rPr lang="en-US" sz="4500" dirty="0" err="1">
                <a:latin typeface="Calibri" pitchFamily="34" charset="0"/>
              </a:rPr>
              <a:t>xe</a:t>
            </a:r>
            <a:r>
              <a:rPr lang="en-US" sz="4500" dirty="0">
                <a:latin typeface="Calibri" pitchFamily="34" charset="0"/>
              </a:rPr>
              <a:t> </a:t>
            </a:r>
            <a:r>
              <a:rPr lang="en-US" sz="4500" dirty="0" err="1">
                <a:latin typeface="Calibri" pitchFamily="34" charset="0"/>
              </a:rPr>
              <a:t>tự</a:t>
            </a:r>
            <a:r>
              <a:rPr lang="en-US" sz="4500" dirty="0">
                <a:latin typeface="Calibri" pitchFamily="34" charset="0"/>
              </a:rPr>
              <a:t> </a:t>
            </a:r>
            <a:r>
              <a:rPr lang="en-US" sz="4500" dirty="0" err="1">
                <a:latin typeface="Calibri" pitchFamily="34" charset="0"/>
              </a:rPr>
              <a:t>hành</a:t>
            </a:r>
            <a:r>
              <a:rPr lang="en-US" sz="4500" dirty="0">
                <a:latin typeface="Calibri" pitchFamily="34" charset="0"/>
              </a:rPr>
              <a:t> 2 </a:t>
            </a:r>
            <a:r>
              <a:rPr lang="en-US" sz="4500" dirty="0" err="1">
                <a:latin typeface="Calibri" pitchFamily="34" charset="0"/>
              </a:rPr>
              <a:t>chế</a:t>
            </a:r>
            <a:r>
              <a:rPr lang="en-US" sz="4500" dirty="0">
                <a:latin typeface="Calibri" pitchFamily="34" charset="0"/>
              </a:rPr>
              <a:t> </a:t>
            </a:r>
            <a:r>
              <a:rPr lang="en-US" sz="4500" dirty="0" err="1">
                <a:latin typeface="Calibri" pitchFamily="34" charset="0"/>
              </a:rPr>
              <a:t>độ</a:t>
            </a:r>
            <a:r>
              <a:rPr lang="en-US" sz="4500" dirty="0">
                <a:latin typeface="Calibri" pitchFamily="34" charset="0"/>
              </a:rPr>
              <a:t>: </a:t>
            </a:r>
            <a:r>
              <a:rPr lang="en-US" sz="4500" dirty="0" err="1">
                <a:latin typeface="Calibri" pitchFamily="34" charset="0"/>
              </a:rPr>
              <a:t>Tự</a:t>
            </a:r>
            <a:r>
              <a:rPr lang="en-US" sz="4500" dirty="0">
                <a:latin typeface="Calibri" pitchFamily="34" charset="0"/>
              </a:rPr>
              <a:t> </a:t>
            </a:r>
            <a:r>
              <a:rPr lang="en-US" sz="4500" dirty="0" err="1">
                <a:latin typeface="Calibri" pitchFamily="34" charset="0"/>
              </a:rPr>
              <a:t>lái</a:t>
            </a:r>
            <a:r>
              <a:rPr lang="en-US" sz="4500" dirty="0">
                <a:latin typeface="Calibri" pitchFamily="34" charset="0"/>
              </a:rPr>
              <a:t> (80% </a:t>
            </a:r>
            <a:r>
              <a:rPr lang="en-US" sz="4500" dirty="0" err="1">
                <a:latin typeface="Calibri" pitchFamily="34" charset="0"/>
              </a:rPr>
              <a:t>tránh</a:t>
            </a:r>
            <a:r>
              <a:rPr lang="en-US" sz="4500" dirty="0">
                <a:latin typeface="Calibri" pitchFamily="34" charset="0"/>
              </a:rPr>
              <a:t> </a:t>
            </a:r>
            <a:r>
              <a:rPr lang="en-US" sz="4500" dirty="0" err="1">
                <a:latin typeface="Calibri" pitchFamily="34" charset="0"/>
              </a:rPr>
              <a:t>vật</a:t>
            </a:r>
            <a:r>
              <a:rPr lang="en-US" sz="4500" dirty="0">
                <a:latin typeface="Calibri" pitchFamily="34" charset="0"/>
              </a:rPr>
              <a:t> </a:t>
            </a:r>
            <a:r>
              <a:rPr lang="en-US" sz="4500" dirty="0" err="1">
                <a:latin typeface="Calibri" pitchFamily="34" charset="0"/>
              </a:rPr>
              <a:t>cản</a:t>
            </a:r>
            <a:r>
              <a:rPr lang="en-US" sz="4500" dirty="0">
                <a:latin typeface="Calibri" pitchFamily="34" charset="0"/>
              </a:rPr>
              <a:t>) &amp; </a:t>
            </a:r>
            <a:r>
              <a:rPr lang="en-US" sz="4500" dirty="0" err="1">
                <a:latin typeface="Calibri" pitchFamily="34" charset="0"/>
              </a:rPr>
              <a:t>Điều</a:t>
            </a:r>
            <a:r>
              <a:rPr lang="en-US" sz="4500" dirty="0">
                <a:latin typeface="Calibri" pitchFamily="34" charset="0"/>
              </a:rPr>
              <a:t> </a:t>
            </a:r>
            <a:r>
              <a:rPr lang="en-US" sz="4500" dirty="0" err="1">
                <a:latin typeface="Calibri" pitchFamily="34" charset="0"/>
              </a:rPr>
              <a:t>khiển</a:t>
            </a:r>
            <a:r>
              <a:rPr lang="en-US" sz="4500" dirty="0">
                <a:latin typeface="Calibri" pitchFamily="34" charset="0"/>
              </a:rPr>
              <a:t> Bluetooth (150ms)</a:t>
            </a:r>
          </a:p>
          <a:p>
            <a:pPr eaLnBrk="1" hangingPunct="1"/>
            <a:r>
              <a:rPr lang="en-US" sz="4500" dirty="0">
                <a:latin typeface="Calibri" pitchFamily="34" charset="0"/>
              </a:rPr>
              <a:t>Chi </a:t>
            </a:r>
            <a:r>
              <a:rPr lang="en-US" sz="4500" dirty="0" err="1">
                <a:latin typeface="Calibri" pitchFamily="34" charset="0"/>
              </a:rPr>
              <a:t>phí</a:t>
            </a:r>
            <a:r>
              <a:rPr lang="en-US" sz="4500" dirty="0">
                <a:latin typeface="Calibri" pitchFamily="34" charset="0"/>
              </a:rPr>
              <a:t> </a:t>
            </a:r>
            <a:r>
              <a:rPr lang="en-US" sz="4500" dirty="0" err="1">
                <a:latin typeface="Calibri" pitchFamily="34" charset="0"/>
              </a:rPr>
              <a:t>thấp</a:t>
            </a:r>
            <a:r>
              <a:rPr lang="en-US" sz="4500" dirty="0">
                <a:latin typeface="Calibri" pitchFamily="34" charset="0"/>
              </a:rPr>
              <a:t> (&lt;500k), </a:t>
            </a:r>
            <a:r>
              <a:rPr lang="en-US" sz="4500" dirty="0" err="1">
                <a:latin typeface="Calibri" pitchFamily="34" charset="0"/>
              </a:rPr>
              <a:t>ổn</a:t>
            </a:r>
            <a:r>
              <a:rPr lang="en-US" sz="4500" dirty="0">
                <a:latin typeface="Calibri" pitchFamily="34" charset="0"/>
              </a:rPr>
              <a:t> </a:t>
            </a:r>
            <a:r>
              <a:rPr lang="en-US" sz="4500" dirty="0" err="1">
                <a:latin typeface="Calibri" pitchFamily="34" charset="0"/>
              </a:rPr>
              <a:t>định</a:t>
            </a:r>
            <a:r>
              <a:rPr lang="en-US" sz="4500" dirty="0">
                <a:latin typeface="Calibri" pitchFamily="34" charset="0"/>
              </a:rPr>
              <a:t>, </a:t>
            </a:r>
            <a:r>
              <a:rPr lang="en-US" sz="4500" dirty="0" err="1">
                <a:latin typeface="Calibri" pitchFamily="34" charset="0"/>
              </a:rPr>
              <a:t>dễ</a:t>
            </a:r>
            <a:r>
              <a:rPr lang="en-US" sz="4500" dirty="0">
                <a:latin typeface="Calibri" pitchFamily="34" charset="0"/>
              </a:rPr>
              <a:t> </a:t>
            </a:r>
            <a:r>
              <a:rPr lang="en-US" sz="4500" dirty="0" err="1">
                <a:latin typeface="Calibri" pitchFamily="34" charset="0"/>
              </a:rPr>
              <a:t>mở</a:t>
            </a:r>
            <a:r>
              <a:rPr lang="en-US" sz="4500" dirty="0">
                <a:latin typeface="Calibri" pitchFamily="34" charset="0"/>
              </a:rPr>
              <a:t> </a:t>
            </a:r>
            <a:r>
              <a:rPr lang="en-US" sz="4500" dirty="0" err="1">
                <a:latin typeface="Calibri" pitchFamily="34" charset="0"/>
              </a:rPr>
              <a:t>rộng</a:t>
            </a:r>
            <a:endParaRPr lang="en-US" sz="4500" dirty="0">
              <a:latin typeface="Calibri" pitchFamily="34" charset="0"/>
            </a:endParaRPr>
          </a:p>
          <a:p>
            <a:pPr eaLnBrk="1" hangingPunct="1"/>
            <a:r>
              <a:rPr lang="en-US" sz="4500" dirty="0" err="1">
                <a:latin typeface="Calibri" pitchFamily="34" charset="0"/>
              </a:rPr>
              <a:t>Ứng</a:t>
            </a:r>
            <a:r>
              <a:rPr lang="en-US" sz="4500" dirty="0">
                <a:latin typeface="Calibri" pitchFamily="34" charset="0"/>
              </a:rPr>
              <a:t> </a:t>
            </a:r>
            <a:r>
              <a:rPr lang="en-US" sz="4500" dirty="0" err="1">
                <a:latin typeface="Calibri" pitchFamily="34" charset="0"/>
              </a:rPr>
              <a:t>dụng</a:t>
            </a:r>
            <a:r>
              <a:rPr lang="en-US" sz="4500" dirty="0">
                <a:latin typeface="Calibri" pitchFamily="34" charset="0"/>
              </a:rPr>
              <a:t>: </a:t>
            </a:r>
            <a:r>
              <a:rPr lang="en-US" sz="4500" dirty="0" err="1">
                <a:latin typeface="Calibri" pitchFamily="34" charset="0"/>
              </a:rPr>
              <a:t>Giáo</a:t>
            </a:r>
            <a:r>
              <a:rPr lang="en-US" sz="4500" dirty="0">
                <a:latin typeface="Calibri" pitchFamily="34" charset="0"/>
              </a:rPr>
              <a:t> </a:t>
            </a:r>
            <a:r>
              <a:rPr lang="en-US" sz="4500" dirty="0" err="1">
                <a:latin typeface="Calibri" pitchFamily="34" charset="0"/>
              </a:rPr>
              <a:t>dục</a:t>
            </a:r>
            <a:r>
              <a:rPr lang="en-US" sz="4500" dirty="0">
                <a:latin typeface="Calibri" pitchFamily="34" charset="0"/>
              </a:rPr>
              <a:t>, logistics, </a:t>
            </a:r>
            <a:r>
              <a:rPr lang="en-US" sz="4500" dirty="0" err="1">
                <a:latin typeface="Calibri" pitchFamily="34" charset="0"/>
              </a:rPr>
              <a:t>giám</a:t>
            </a:r>
            <a:r>
              <a:rPr lang="en-US" sz="4500" dirty="0">
                <a:latin typeface="Calibri" pitchFamily="34" charset="0"/>
              </a:rPr>
              <a:t> </a:t>
            </a:r>
            <a:r>
              <a:rPr lang="en-US" sz="4500" dirty="0" err="1">
                <a:latin typeface="Calibri" pitchFamily="34" charset="0"/>
              </a:rPr>
              <a:t>sát</a:t>
            </a:r>
            <a:endParaRPr lang="en-US" sz="4500" dirty="0">
              <a:latin typeface="Calibri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A352EE-1646-EC70-5E36-30EC9AD9F7E0}"/>
              </a:ext>
            </a:extLst>
          </p:cNvPr>
          <p:cNvSpPr txBox="1"/>
          <p:nvPr/>
        </p:nvSpPr>
        <p:spPr>
          <a:xfrm>
            <a:off x="1376910" y="35722836"/>
            <a:ext cx="676671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3000" dirty="0">
                <a:latin typeface="Arial" panose="020B0604020202020204" pitchFamily="34" charset="0"/>
              </a:rPr>
              <a:t>Cảm biến hồng ngoại</a:t>
            </a:r>
            <a:endParaRPr lang="en-US" sz="3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761195-36CC-D318-5848-2FE501B51178}"/>
              </a:ext>
            </a:extLst>
          </p:cNvPr>
          <p:cNvSpPr/>
          <p:nvPr/>
        </p:nvSpPr>
        <p:spPr>
          <a:xfrm>
            <a:off x="9930032" y="29984441"/>
            <a:ext cx="8764277" cy="1171733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vi-VN" sz="5399" b="1" dirty="0">
                <a:solidFill>
                  <a:schemeClr val="bg1"/>
                </a:solidFill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Ứng dụng thực tế</a:t>
            </a:r>
            <a:endParaRPr lang="en-US" sz="5399" b="1" dirty="0">
              <a:solidFill>
                <a:schemeClr val="bg1"/>
              </a:solidFill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0AC82E-FF18-1922-4617-B52C8FD19479}"/>
              </a:ext>
            </a:extLst>
          </p:cNvPr>
          <p:cNvSpPr txBox="1"/>
          <p:nvPr/>
        </p:nvSpPr>
        <p:spPr>
          <a:xfrm>
            <a:off x="8408610" y="10752991"/>
            <a:ext cx="11723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/>
              <a:t>Github</a:t>
            </a:r>
            <a:r>
              <a:rPr lang="en-US" sz="3600" b="1" dirty="0"/>
              <a:t>: https://</a:t>
            </a:r>
            <a:r>
              <a:rPr lang="en-US" sz="3600" b="1" dirty="0" err="1"/>
              <a:t>github.com</a:t>
            </a:r>
            <a:r>
              <a:rPr lang="en-US" sz="3600" b="1" dirty="0"/>
              <a:t>/Phuc-Bang/</a:t>
            </a:r>
            <a:r>
              <a:rPr lang="en-US" sz="3600" b="1" dirty="0" err="1"/>
              <a:t>Car_Conntronller.git</a:t>
            </a:r>
            <a:endParaRPr lang="en-US" sz="3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B835F3-F768-8315-4627-5654129A8455}"/>
              </a:ext>
            </a:extLst>
          </p:cNvPr>
          <p:cNvSpPr txBox="1"/>
          <p:nvPr/>
        </p:nvSpPr>
        <p:spPr>
          <a:xfrm>
            <a:off x="11993222" y="9621668"/>
            <a:ext cx="14438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KHOA CÔNG NGHỆ THÔNG TIN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ABF4E65-9336-CED4-40B5-828F0E50C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44"/>
            <a:ext cx="28803600" cy="655653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6C724AE-79C3-CBF7-13D9-AFB8C50186BA}"/>
              </a:ext>
            </a:extLst>
          </p:cNvPr>
          <p:cNvSpPr txBox="1"/>
          <p:nvPr/>
        </p:nvSpPr>
        <p:spPr>
          <a:xfrm>
            <a:off x="10097479" y="280631"/>
            <a:ext cx="80521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>
                <a:solidFill>
                  <a:schemeClr val="bg1"/>
                </a:solidFill>
              </a:rPr>
              <a:t>TRƯỜNG ĐẠI HỌC ĐẠI NAM</a:t>
            </a:r>
          </a:p>
          <a:p>
            <a:pPr algn="ctr"/>
            <a:r>
              <a:rPr lang="en-US" sz="4800" b="1">
                <a:solidFill>
                  <a:schemeClr val="bg1"/>
                </a:solidFill>
              </a:rPr>
              <a:t>KHOA CÔNG NGHỆ THÔNG TIN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630706-2926-BC17-F1DF-4C32343F66DC}"/>
              </a:ext>
            </a:extLst>
          </p:cNvPr>
          <p:cNvSpPr txBox="1"/>
          <p:nvPr/>
        </p:nvSpPr>
        <p:spPr>
          <a:xfrm>
            <a:off x="11616849" y="13372001"/>
            <a:ext cx="12413045" cy="7027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VN" dirty="0"/>
          </a:p>
        </p:txBody>
      </p:sp>
      <p:pic>
        <p:nvPicPr>
          <p:cNvPr id="37" name="Picture 4" descr="Module Điều Khiển Động Cơ Bước L298N – Bơm Nước Mini">
            <a:extLst>
              <a:ext uri="{FF2B5EF4-FFF2-40B4-BE49-F238E27FC236}">
                <a16:creationId xmlns:a16="http://schemas.microsoft.com/office/drawing/2014/main" id="{46036B84-9F10-C66E-0998-A2BFD4998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233826" flipV="1">
            <a:off x="1071135" y="18241163"/>
            <a:ext cx="5529939" cy="2722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179AF18-5277-CA27-7CD9-1AA116954CD1}"/>
              </a:ext>
            </a:extLst>
          </p:cNvPr>
          <p:cNvSpPr txBox="1"/>
          <p:nvPr/>
        </p:nvSpPr>
        <p:spPr>
          <a:xfrm>
            <a:off x="1641898" y="21398604"/>
            <a:ext cx="11817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3000" dirty="0"/>
              <a:t>L298N</a:t>
            </a:r>
          </a:p>
        </p:txBody>
      </p:sp>
      <p:pic>
        <p:nvPicPr>
          <p:cNvPr id="1030" name="Picture 6" descr="Arduino Uno - Wikipedia">
            <a:extLst>
              <a:ext uri="{FF2B5EF4-FFF2-40B4-BE49-F238E27FC236}">
                <a16:creationId xmlns:a16="http://schemas.microsoft.com/office/drawing/2014/main" id="{2829F42F-8D0B-642A-867A-BD7DFA12F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775" y="25342697"/>
            <a:ext cx="3405351" cy="340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ảm biến siêu âm HC-SR05 đo khoảng cách Linh kiện Cầu Giấy">
            <a:extLst>
              <a:ext uri="{FF2B5EF4-FFF2-40B4-BE49-F238E27FC236}">
                <a16:creationId xmlns:a16="http://schemas.microsoft.com/office/drawing/2014/main" id="{178562AB-4A39-0025-A5F5-97DAF8DFC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388" y="23167282"/>
            <a:ext cx="3573059" cy="3589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7965D60-8C1F-C1BF-403E-EA0B451D5C76}"/>
              </a:ext>
            </a:extLst>
          </p:cNvPr>
          <p:cNvSpPr txBox="1"/>
          <p:nvPr/>
        </p:nvSpPr>
        <p:spPr>
          <a:xfrm>
            <a:off x="5421289" y="27056934"/>
            <a:ext cx="38763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/>
              <a:t>Cảm</a:t>
            </a:r>
            <a:r>
              <a:rPr lang="en-US" sz="3000" dirty="0"/>
              <a:t> </a:t>
            </a:r>
            <a:r>
              <a:rPr lang="en-US" sz="3000" dirty="0" err="1"/>
              <a:t>biến</a:t>
            </a:r>
            <a:r>
              <a:rPr lang="en-US" sz="3000" dirty="0"/>
              <a:t> </a:t>
            </a:r>
            <a:r>
              <a:rPr lang="en-US" sz="3000" dirty="0" err="1"/>
              <a:t>siêu</a:t>
            </a:r>
            <a:r>
              <a:rPr lang="en-US" sz="3000" dirty="0"/>
              <a:t> </a:t>
            </a:r>
            <a:r>
              <a:rPr lang="en-US" sz="3000" dirty="0" err="1"/>
              <a:t>âm</a:t>
            </a:r>
            <a:r>
              <a:rPr lang="en-US" sz="3000" dirty="0"/>
              <a:t> </a:t>
            </a:r>
            <a:r>
              <a:rPr lang="en-US" sz="3000" dirty="0" err="1"/>
              <a:t>hc</a:t>
            </a:r>
            <a:r>
              <a:rPr lang="en-US" sz="3000" dirty="0"/>
              <a:t> 05</a:t>
            </a:r>
            <a:endParaRPr lang="en-VN" sz="3000" dirty="0"/>
          </a:p>
        </p:txBody>
      </p:sp>
      <p:pic>
        <p:nvPicPr>
          <p:cNvPr id="1034" name="Picture 10" descr="Cảm biến vật cản hồng ngoại IR Infrared Obstacle Avoidance">
            <a:extLst>
              <a:ext uri="{FF2B5EF4-FFF2-40B4-BE49-F238E27FC236}">
                <a16:creationId xmlns:a16="http://schemas.microsoft.com/office/drawing/2014/main" id="{BA953439-5AA4-331C-A737-405B6B322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910" y="31322817"/>
            <a:ext cx="3853271" cy="340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08DDBFBD-DCA4-02D1-EE67-A859C5653111}"/>
              </a:ext>
            </a:extLst>
          </p:cNvPr>
          <p:cNvSpPr txBox="1"/>
          <p:nvPr/>
        </p:nvSpPr>
        <p:spPr>
          <a:xfrm>
            <a:off x="-1864485" y="37437586"/>
            <a:ext cx="5044885" cy="174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036" name="Picture 12" descr="Động cơ 130 3VDC - Nshop">
            <a:extLst>
              <a:ext uri="{FF2B5EF4-FFF2-40B4-BE49-F238E27FC236}">
                <a16:creationId xmlns:a16="http://schemas.microsoft.com/office/drawing/2014/main" id="{1553A5DD-78E4-6CE9-1D3E-459B76815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6609" y="28761740"/>
            <a:ext cx="3053280" cy="305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EC425AA3-9C31-D194-031A-D25230E21D12}"/>
              </a:ext>
            </a:extLst>
          </p:cNvPr>
          <p:cNvSpPr txBox="1"/>
          <p:nvPr/>
        </p:nvSpPr>
        <p:spPr>
          <a:xfrm>
            <a:off x="5943600" y="32253732"/>
            <a:ext cx="23150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3000" dirty="0"/>
              <a:t>Động cơ DC</a:t>
            </a:r>
            <a:endParaRPr lang="en-VN" sz="3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0F5E5B-EB47-2234-6F08-78967280AF6A}"/>
              </a:ext>
            </a:extLst>
          </p:cNvPr>
          <p:cNvSpPr txBox="1"/>
          <p:nvPr/>
        </p:nvSpPr>
        <p:spPr>
          <a:xfrm>
            <a:off x="2232765" y="29282524"/>
            <a:ext cx="20901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/>
              <a:t>arduino</a:t>
            </a:r>
            <a:r>
              <a:rPr lang="en-US" sz="3000" dirty="0"/>
              <a:t> uno</a:t>
            </a:r>
            <a:endParaRPr lang="en-VN" sz="3000" dirty="0"/>
          </a:p>
        </p:txBody>
      </p:sp>
      <p:pic>
        <p:nvPicPr>
          <p:cNvPr id="1038" name="Picture 14" descr="IoT – Thiết kế xe ô tô tự hành, cuộc thi của Swinburne đã tới chung kết">
            <a:extLst>
              <a:ext uri="{FF2B5EF4-FFF2-40B4-BE49-F238E27FC236}">
                <a16:creationId xmlns:a16="http://schemas.microsoft.com/office/drawing/2014/main" id="{52295C46-6760-113C-A53C-19B3BDD1A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0031" y="31253186"/>
            <a:ext cx="8764277" cy="768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F77FB9C4-48B3-DF59-A117-5C73E46B57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982" y="13078653"/>
            <a:ext cx="17051758" cy="1649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463</TotalTime>
  <Words>208</Words>
  <Application>Microsoft Macintosh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(Body)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Nguyễn Đức Doanh</cp:lastModifiedBy>
  <cp:revision>67</cp:revision>
  <dcterms:created xsi:type="dcterms:W3CDTF">2023-07-02T07:57:15Z</dcterms:created>
  <dcterms:modified xsi:type="dcterms:W3CDTF">2025-11-17T07:49:27Z</dcterms:modified>
</cp:coreProperties>
</file>